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
Introduce the team and the one-line pitch. Say the roadmap: problem, how it works, how we deployed it, limits, then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
Pain point: legal text is hard to read and generic AI hallucinates. Our design principle: answer only from retrieved text, always cite, refuse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
Quick scope and numbers. Be upfront that 33 articles is a subset (Book One, Book Three Arts 82-95, Book Six Arts 278-287). The '3 calls' number is with the self-check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[A]
Top row happens once, offline. Bottom row happens on every question. Point out the embedding model runs locally, so retrieval costs no API quota.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
Show that ingestion is automated end to end. Long articles are split with overlap but every chunk keeps its article number so citations stay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
BEFORE PRESENTING: run `python -m src.rag.evaluate` and type the real hit@1 / hit@3 numbers into the two blanks on this slide. Do not present blanks.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
Walk left to right. Route decides scope and rewrites follow-ups. Retrieve fetches chunks. Generate answers from them. Verify checks citations, and a failure loops back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[B]
Memory is per session. Earlier answers are never treated as a source of legal facts, only as context for what 'that' refers to. The demo will show this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
Explain the Docker stages: build stage installs dependencies, downloads the model and builds the index; runtime stage is slim. Mention the quota guard and why it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
Say these limits yourselves before a panelist does. The currency point: say what you found when you checked the current official numbering.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
Be honest that fine-tuning is analysis only. We did not run any fine-tuning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
Switch to the deployed app. Presenter C types, Presenter B narrates what to watch for, Presenter A watches the clock. See the demo run sheet in the script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F1F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9"/>
                </a:solidFill>
              </a:rPr>
              <a:t>Philippine Labor Law Q&amp;A Bot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F1F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691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Philippine Labor Law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Bot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that cite the Labor Code, or say they can't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Mini Capstone  |  Presenters: Presenter A  ·  Presenter B  ·  Presenter 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F1F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 is dense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Code articles are long legal prose. Workers need a quick, plain answer, not 40 pages.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645920"/>
            <a:ext cx="640080" cy="64008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guess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chatbot can invent a plausible rule or article number. In law, that is dangerous.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41732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645920"/>
            <a:ext cx="640080" cy="64008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061" y="18123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9260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actual article, answer only from it, cite every claim, and decline when unsure.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bot does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Code articles indexed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286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per answered question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286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if verification fails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4630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E6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286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the article for every claim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conversation for follow-up questions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non-Philippine and non-labor questions; says "not covered" instead of guessing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INDEX (once)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50876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· .md · .pdf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1965960"/>
            <a:ext cx="45720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5087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50876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clean · chunk · embed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1965960"/>
            <a:ext cx="45720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150876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7648" y="150876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store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(every question)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2423160"/>
            <a:ext cx="0" cy="27432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697480"/>
            <a:ext cx="283464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697480"/>
            <a:ext cx="0" cy="27432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394960" y="2724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chunks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01752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UI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memory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26080" y="3520440"/>
            <a:ext cx="45720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93008" y="301752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pipeline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→ retrieve → generate → verify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60720" y="3520440"/>
            <a:ext cx="45720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1792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301752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(hosted)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answer · self-check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embeds documents and questions locally; only generation calls Gemini.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54480" cy="868680"/>
          </a:xfrm>
          <a:prstGeom prst="chevron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/ .md / .pdf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57984" y="1371600"/>
            <a:ext cx="1554480" cy="868680"/>
          </a:xfrm>
          <a:prstGeom prst="chevron">
            <a:avLst/>
          </a:prstGeom>
          <a:solidFill>
            <a:srgbClr val="1B4B5A"/>
          </a:solidFill>
          <a:ln w="12700">
            <a:solidFill>
              <a:srgbClr val="1B4B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32304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57984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headers, normalize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67328" y="1371600"/>
            <a:ext cx="1554480" cy="868680"/>
          </a:xfrm>
          <a:prstGeom prst="chevron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41648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article = one chunk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76672" y="1371600"/>
            <a:ext cx="1554480" cy="868680"/>
          </a:xfrm>
          <a:prstGeom prst="chevron">
            <a:avLst/>
          </a:prstGeom>
          <a:solidFill>
            <a:srgbClr val="1B4B5A"/>
          </a:solidFill>
          <a:ln w="12700">
            <a:solidFill>
              <a:srgbClr val="1B4B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50992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MiniLM, local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86016" y="1371600"/>
            <a:ext cx="1554480" cy="868680"/>
          </a:xfrm>
          <a:prstGeom prst="chevron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0336" y="13716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2331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+ metadata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3285439"/>
            <a:ext cx="241402" cy="24140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18872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re-run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per document skips unchanged files and replaces edited ones.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291840" y="315468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599" y="3285439"/>
            <a:ext cx="241402" cy="24140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93192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tolerant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329184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file is reported; the rest of the batch continues.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035040" y="315468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799" y="3285439"/>
            <a:ext cx="241402" cy="24140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675120" y="3154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updates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03504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file to data/incoming/ and run one command.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we can measure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embeddings: all-MiniLM-L6-v2, free and private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are unit length, so cosine and dot product rank the same; we use cosine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relevance threshold refuses weak matches before any answer call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costs zero API calls, so we can rerun it freely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77840" y="1371600"/>
            <a:ext cx="3017520" cy="3017520"/>
          </a:xfrm>
          <a:prstGeom prst="roundRect">
            <a:avLst>
              <a:gd name="adj" fmla="val 3636"/>
            </a:avLst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778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labelled questions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hit@1:  ___ / 12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hit@3:  ___ / 12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right article in the top results?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with LangGraph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8288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920240" y="2240280"/>
            <a:ext cx="32004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240280" y="18288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0008" y="18288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2240280"/>
            <a:ext cx="32004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31920" y="18288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41648" y="18288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0" y="2240280"/>
            <a:ext cx="32004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23560" y="18288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1B4B5A"/>
          </a:solidFill>
          <a:ln w="12700">
            <a:solidFill>
              <a:srgbClr val="1B4B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33288" y="18288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95160" y="2240280"/>
            <a:ext cx="32004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0" y="182880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24928" y="18288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617720" y="1554480"/>
            <a:ext cx="169164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554480"/>
            <a:ext cx="0" cy="27432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17720" y="1554480"/>
            <a:ext cx="0" cy="27432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2062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3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fails: regenerate once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234440" y="2651760"/>
            <a:ext cx="0" cy="59436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2926080" y="2651760"/>
            <a:ext cx="0" cy="59436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01000" y="2651760"/>
            <a:ext cx="0" cy="59436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48640" y="3246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3D9DA"/>
          </a:solidFill>
          <a:ln w="12700">
            <a:solidFill>
              <a:srgbClr val="F3D9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324612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or small talk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697480" y="3246120"/>
            <a:ext cx="2194560" cy="1005840"/>
          </a:xfrm>
          <a:prstGeom prst="roundRect">
            <a:avLst>
              <a:gd name="adj" fmla="val 9091"/>
            </a:avLst>
          </a:prstGeom>
          <a:solidFill>
            <a:srgbClr val="F3D9DA"/>
          </a:solidFill>
          <a:ln w="12700">
            <a:solidFill>
              <a:srgbClr val="F3D9D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807208" y="324612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 below threshold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120640" y="324612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230368" y="3246120"/>
            <a:ext cx="3255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disclaimer; warning if unverified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and verification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Follow-ups just work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"What if the company is closing down?"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"In that case, how much separation pay?"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rewrites the second one into a standalone search query before retrieval.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55448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6971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first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2860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cited article must be in the retrieved text (no API call)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self-check compares the draft to its sources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triggers one regeneration, then a visible warning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and deployment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508760"/>
            <a:ext cx="548640" cy="54864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366" y="16514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sources panel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377440" y="2240280"/>
            <a:ext cx="27432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508760"/>
            <a:ext cx="548640" cy="54864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486" y="16514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two-stage, non-root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480560" y="2240280"/>
            <a:ext cx="27432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5488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94960" y="1508760"/>
            <a:ext cx="548640" cy="54864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06" y="16514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build, smoke test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583680" y="2240280"/>
            <a:ext cx="274320" cy="0"/>
          </a:xfrm>
          <a:prstGeom prst="line">
            <a:avLst/>
          </a:prstGeom>
          <a:noFill/>
          <a:ln w="25400">
            <a:solidFill>
              <a:srgbClr val="2E6F7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85800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98080" y="1508760"/>
            <a:ext cx="548640" cy="54864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165140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3383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key is a run-time secret: never in the code, repo or image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demo can burn a private quota, so the app caps daily AI calls, questions per visitor, and can require a passcode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we are upfront about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B3363A"/>
          </a:solidFill>
          <a:ln w="12700">
            <a:solidFill>
              <a:srgbClr val="B336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276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391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articles only. Other provisions, such as minimum employable age, are answered as "not covered".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rgbClr val="B3363A"/>
          </a:solidFill>
          <a:ln w="12700">
            <a:solidFill>
              <a:srgbClr val="B336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03911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uses the original article numbering and wording. It must be checked against the current official Labor Code.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B3363A"/>
          </a:solidFill>
          <a:ln w="12700">
            <a:solidFill>
              <a:srgbClr val="B3363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27355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legal advice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6850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a disclaimer. Real disputes need DOLE or a lawyer.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29718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1F1"/>
          </a:solidFill>
          <a:ln w="12700">
            <a:solidFill>
              <a:srgbClr val="EAF1F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B3363A"/>
          </a:solidFill>
          <a:ln w="12700">
            <a:solidFill>
              <a:srgbClr val="B3363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27355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Quota and state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68503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AI limits apply. Memory and the daily budget live in process memory and reset on restart.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would do next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6294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716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and refresh the corpus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828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article numbering, more books, DOLE issuances.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68102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4231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Tune retrieval first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880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evaluation shows misses, fine-tune the embedding model. Planned, not yet done.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2E6F73"/>
          </a:solidFill>
          <a:ln w="12700">
            <a:solidFill>
              <a:srgbClr val="2E6F7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373258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474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for real users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931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conversations and per-user rate limits.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44752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my employer fire me without giving a reason?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44475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66544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company is closing down instead?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06654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follow-up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88336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that case, how much separation pay?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6883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"that case"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10128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16 year old legally be hired?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31012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scope, not in our data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950208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93192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minimum wage in California?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93192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refused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the sources panel, the rewritten follow-up, and the refusal.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AF1F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or Law Bot">
  <a:themeElements>
    <a:clrScheme name="Labor Law Bot">
      <a:dk1>
        <a:srgbClr val="12303B"/>
      </a:dk1>
      <a:lt1>
        <a:srgbClr val="FFFFFF"/>
      </a:lt1>
      <a:dk2>
        <a:srgbClr val="2E6F73"/>
      </a:dk2>
      <a:lt2>
        <a:srgbClr val="EAF1F1"/>
      </a:lt2>
      <a:accent1>
        <a:srgbClr val="D9A441"/>
      </a:accent1>
      <a:accent2>
        <a:srgbClr val="2E6F73"/>
      </a:accent2>
      <a:accent3>
        <a:srgbClr val="B3363A"/>
      </a:accent3>
      <a:accent4>
        <a:srgbClr val="5B8C5A"/>
      </a:accent4>
      <a:accent5>
        <a:srgbClr val="7A8B99"/>
      </a:accent5>
      <a:accent6>
        <a:srgbClr val="1B4B5A"/>
      </a:accent6>
      <a:hlink>
        <a:srgbClr val="2E6F73"/>
      </a:hlink>
      <a:folHlink>
        <a:srgbClr val="7A8B99"/>
      </a:folHlink>
    </a:clrScheme>
    <a:fontScheme name="Labor Law Bo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Philippine Labor Law Q&amp;A Bot</dc:title>
  <dc:subject>PptxGenJS Presentation</dc:subject>
  <dc:creator>PptxGenJS</dc:creator>
  <cp:lastModifiedBy>PptxGenJS</cp:lastModifiedBy>
  <cp:revision>1</cp:revision>
  <dcterms:created xsi:type="dcterms:W3CDTF">2026-10-26T11:28:00Z</dcterms:created>
  <dcterms:modified xsi:type="dcterms:W3CDTF">2026-10-26T11:28:00Z</dcterms:modified>
</cp:coreProperties>
</file>